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44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MAJOR PROJECT | B.TECH. (HONS.) (CSE - DATA SCIENCE &amp; DATA ENGINEERING)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40280" y="19075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InsightForge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FE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No-Code Automated Machine Learning &amp; Data Science Workspace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Submitted By: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6280" y="4407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FE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Aditya Kumar Singh</a:t>
            </a:r>
            <a:r>
              <a:rPr lang="en-US" sz="1300" dirty="0">
                <a:solidFill>
                  <a:srgbClr val="9FD8D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 |   Reg. No.: 12304738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6120" y="46898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FE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Ujjawal Raj</a:t>
            </a:r>
            <a:r>
              <a:rPr lang="en-US" sz="1300" dirty="0">
                <a:solidFill>
                  <a:srgbClr val="9FD8D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 |   Reg. No.: 12314084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Guide: Mr. </a:t>
            </a:r>
            <a: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Ritik Dwivedi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LOVELY PROFESSIONAL UNIVERSITY   •   2026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2DEC92-B231-45B4-5674-DFEB025FA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" y="1775460"/>
            <a:ext cx="1825778" cy="12132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2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9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1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11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11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8400" y="-822960"/>
            <a:ext cx="2194560" cy="219456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101600" dist="38100" dir="5400000" algn="bl" rotWithShape="0">
              <a:srgbClr val="1E4A4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Challenges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requires programming knowledge</a:t>
            </a:r>
            <a:endParaRPr lang="en-US" sz="1450" dirty="0"/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visualization are time-consuming</a:t>
            </a:r>
            <a:endParaRPr lang="en-US" sz="1450" dirty="0"/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struggle with Scikit-learn / Pandas</a:t>
            </a:r>
            <a:endParaRPr lang="en-US" sz="1450" dirty="0"/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tools needed for one workflow</a:t>
            </a:r>
            <a:endParaRPr lang="en-US" sz="1450" dirty="0"/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AutoML platforms are costly &amp; complex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1E4A47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 is a web-based No-Code Data Science Platform that automates: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28803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288036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98280" y="28803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8008" y="288036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9319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98280" y="39319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4983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498348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Insights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98280" y="4983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498348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9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11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9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2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9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11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11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9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1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9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11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22" presetClass="entr" presetSubtype="2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9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9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11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9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11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nodeType="afterEffect">
                            <p:stCondLst>
                              <p:cond delay="48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9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afterEffect">
                            <p:stCondLst>
                              <p:cond delay="50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11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52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11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5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11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822960"/>
            <a:ext cx="2194560" cy="219456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6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no-code machine learning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61848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6" dirty="0"/>
          </a:p>
        </p:txBody>
      </p:sp>
      <p:sp>
        <p:nvSpPr>
          <p:cNvPr id="11" name="Text 9"/>
          <p:cNvSpPr/>
          <p:nvPr/>
        </p:nvSpPr>
        <p:spPr>
          <a:xfrm>
            <a:off x="7086600" y="1371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dataset profiling and EDA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85292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6" dirty="0"/>
          </a:p>
        </p:txBody>
      </p:sp>
      <p:sp>
        <p:nvSpPr>
          <p:cNvPr id="15" name="Text 13"/>
          <p:cNvSpPr/>
          <p:nvPr/>
        </p:nvSpPr>
        <p:spPr>
          <a:xfrm>
            <a:off x="1463040" y="2606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interactive visualizations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60604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285292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6" dirty="0"/>
          </a:p>
        </p:txBody>
      </p:sp>
      <p:sp>
        <p:nvSpPr>
          <p:cNvPr id="19" name="Text 17"/>
          <p:cNvSpPr/>
          <p:nvPr/>
        </p:nvSpPr>
        <p:spPr>
          <a:xfrm>
            <a:off x="7086600" y="2606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AutoML for classification &amp; regression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0873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6" dirty="0"/>
          </a:p>
        </p:txBody>
      </p:sp>
      <p:sp>
        <p:nvSpPr>
          <p:cNvPr id="23" name="Text 21"/>
          <p:cNvSpPr/>
          <p:nvPr/>
        </p:nvSpPr>
        <p:spPr>
          <a:xfrm>
            <a:off x="1463040" y="3840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time-series forecasting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40873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6" dirty="0"/>
          </a:p>
        </p:txBody>
      </p:sp>
      <p:sp>
        <p:nvSpPr>
          <p:cNvPr id="27" name="Text 25"/>
          <p:cNvSpPr/>
          <p:nvPr/>
        </p:nvSpPr>
        <p:spPr>
          <a:xfrm>
            <a:off x="7086600" y="3840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AI-assisted data interpretation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532180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6" dirty="0"/>
          </a:p>
        </p:txBody>
      </p:sp>
      <p:sp>
        <p:nvSpPr>
          <p:cNvPr id="31" name="Text 29"/>
          <p:cNvSpPr/>
          <p:nvPr/>
        </p:nvSpPr>
        <p:spPr>
          <a:xfrm>
            <a:off x="1463040" y="5074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analytical reports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07492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73368" y="532180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6" dirty="0"/>
          </a:p>
        </p:txBody>
      </p:sp>
      <p:sp>
        <p:nvSpPr>
          <p:cNvPr id="35" name="Text 33"/>
          <p:cNvSpPr/>
          <p:nvPr/>
        </p:nvSpPr>
        <p:spPr>
          <a:xfrm>
            <a:off x="7086600" y="5074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responsive full-stack web application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9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9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9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11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9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2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9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11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1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9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9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1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9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9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11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11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nodeType="afterEffect">
                            <p:stCondLst>
                              <p:cond delay="48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9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nodeType="afterEffect">
                            <p:stCondLst>
                              <p:cond delay="50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9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52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11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5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11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22" presetClass="entr" presetSubtype="2" fill="hold" nodeType="afterEffect">
                            <p:stCondLst>
                              <p:cond delay="57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4" dur="9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22" presetClass="entr" presetSubtype="2" fill="hold" nodeType="afterEffect">
                            <p:stCondLst>
                              <p:cond delay="594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9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afterEffect">
                            <p:stCondLst>
                              <p:cond delay="616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11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afterEffect">
                            <p:stCondLst>
                              <p:cond delay="63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11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22" presetClass="entr" presetSubtype="2" fill="hold" nodeType="afterEffect">
                            <p:stCondLst>
                              <p:cond delay="66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6" dur="9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22" presetClass="entr" presetSubtype="2" fill="hold" nodeType="afterEffect">
                            <p:stCondLst>
                              <p:cond delay="68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9" dur="9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afterEffect">
                            <p:stCondLst>
                              <p:cond delay="704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11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afterEffect">
                            <p:stCondLst>
                              <p:cond delay="726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11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afterEffect">
                            <p:stCondLst>
                              <p:cond delay="748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11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afterEffect">
                            <p:stCondLst>
                              <p:cond delay="77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11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0B3A3D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916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920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0B3A3D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6916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920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0B3A3D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916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1920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15400" y="137160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0B3A3D"/>
          </a:solidFill>
          <a:ln w="19050">
            <a:solidFill>
              <a:srgbClr val="5FB8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16916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5FB8AE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Formats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2423160"/>
            <a:ext cx="1920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 / .xlsx)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11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2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2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" dur="9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9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1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9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9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11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9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9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11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1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11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822960"/>
            <a:ext cx="2194560" cy="219456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Three-tier, modular, scalable architecture with REST API communication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" y="1548594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E4A47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02336" y="1562783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 rot="5400000">
            <a:off x="1386332" y="21996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02336" y="29260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E4A47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08376" y="28803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28416" y="29260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E4A47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28416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(Axios)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34456" y="28803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54496" y="29260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E4A47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60536" y="28803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80576" y="29260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E4A47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0576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 rot="16200000">
            <a:off x="10319512" y="21996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80576" y="1548594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5FB8AE"/>
          </a:solidFill>
          <a:ln/>
          <a:effectLst>
            <a:outerShdw blurRad="76200" dist="25400" dir="5400000" algn="bl" rotWithShape="0">
              <a:srgbClr val="1E4A47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0576" y="154859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Storage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4480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38862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communication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480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672084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0" y="4480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955548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implementation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120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frontend never talks to the ML engine directly - every request is mediated through FastAPI's REST layer, keeping presentation, business logic, and data fully decoupled.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11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9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9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1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9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11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9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1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11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9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1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9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11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9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11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afterEffect">
                            <p:stCondLst>
                              <p:cond delay="48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11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nodeType="afterEffect">
                            <p:stCondLst>
                              <p:cond delay="50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9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52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11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5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11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22" presetClass="entr" presetSubtype="2" fill="hold" nodeType="afterEffect">
                            <p:stCondLst>
                              <p:cond delay="57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4" dur="9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afterEffect">
                            <p:stCondLst>
                              <p:cond delay="594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11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afterEffect">
                            <p:stCondLst>
                              <p:cond delay="616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11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22" presetClass="entr" presetSubtype="2" fill="hold" nodeType="afterEffect">
                            <p:stCondLst>
                              <p:cond delay="63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3" dur="9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afterEffect">
                            <p:stCondLst>
                              <p:cond delay="66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11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afterEffect">
                            <p:stCondLst>
                              <p:cond delay="68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11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22" presetClass="entr" presetSubtype="2" fill="hold" nodeType="afterEffect">
                            <p:stCondLst>
                              <p:cond delay="704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2" dur="9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afterEffect">
                            <p:stCondLst>
                              <p:cond delay="726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11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afterEffect">
                            <p:stCondLst>
                              <p:cond delay="748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11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afterEffect">
                            <p:stCondLst>
                              <p:cond delay="77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11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822960"/>
            <a:ext cx="2194560" cy="219456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project statistics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645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3547872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Management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7872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validation, preview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6364224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64224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missing values, correlation, charts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6296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22629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9180576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80576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731520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prediction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93592" y="4114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3547872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47872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explanation &amp; recommendations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81344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9944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9944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60" dirty="0"/>
          </a:p>
        </p:txBody>
      </p:sp>
      <p:sp>
        <p:nvSpPr>
          <p:cNvPr id="37" name="Text 35"/>
          <p:cNvSpPr/>
          <p:nvPr/>
        </p:nvSpPr>
        <p:spPr>
          <a:xfrm>
            <a:off x="6364224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364224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generation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9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11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9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2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9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11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11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9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9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11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11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1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2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9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9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11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11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11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nodeType="afterEffect">
                            <p:stCondLst>
                              <p:cond delay="48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9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nodeType="afterEffect">
                            <p:stCondLst>
                              <p:cond delay="50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9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52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11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5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11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afterEffect">
                            <p:stCondLst>
                              <p:cond delay="57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11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22" presetClass="entr" presetSubtype="2" fill="hold" nodeType="afterEffect">
                            <p:stCondLst>
                              <p:cond delay="594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9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22" presetClass="entr" presetSubtype="2" fill="hold" nodeType="afterEffect">
                            <p:stCondLst>
                              <p:cond delay="616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0" dur="9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afterEffect">
                            <p:stCondLst>
                              <p:cond delay="63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11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afterEffect">
                            <p:stCondLst>
                              <p:cond delay="66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11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afterEffect">
                            <p:stCondLst>
                              <p:cond delay="68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11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22" presetClass="entr" presetSubtype="2" fill="hold" nodeType="afterEffect">
                            <p:stCondLst>
                              <p:cond delay="704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2" dur="9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22" presetClass="entr" presetSubtype="2" fill="hold" nodeType="afterEffect">
                            <p:stCondLst>
                              <p:cond delay="726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5" dur="9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afterEffect">
                            <p:stCondLst>
                              <p:cond delay="748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11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afterEffect">
                            <p:stCondLst>
                              <p:cond delay="77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11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afterEffect">
                            <p:stCondLst>
                              <p:cond delay="792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11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afterEffect">
                            <p:stCondLst>
                              <p:cond delay="814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11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afterEffect">
                            <p:stCondLst>
                              <p:cond delay="836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11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5196" y="1554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5196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36876" y="150876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56916" y="1554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56916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68596" y="150876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88636" y="1554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88636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0316" y="150876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20356" y="1554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20356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32036" y="150876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52076" y="1554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52076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75036" y="24688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752076" y="3246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52076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 rot="10800000">
            <a:off x="9432036" y="32004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20356" y="3246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20356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 rot="10800000">
            <a:off x="7100316" y="32004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88636" y="3246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88636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 rot="10800000">
            <a:off x="4768596" y="32004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756916" y="3246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56916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11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2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11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2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9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11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9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11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9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11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9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11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11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22" presetClass="entr" presetSubtype="2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9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11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9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11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11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nodeType="afterEffect">
                            <p:stCondLst>
                              <p:cond delay="48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9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afterEffect">
                            <p:stCondLst>
                              <p:cond delay="50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11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52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11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22" presetClass="entr" presetSubtype="2" fill="hold" nodeType="afterEffect">
                            <p:stCondLst>
                              <p:cond delay="5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9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afterEffect">
                            <p:stCondLst>
                              <p:cond delay="57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11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afterEffect">
                            <p:stCondLst>
                              <p:cond delay="594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11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afterEffect">
                            <p:stCondLst>
                              <p:cond delay="616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11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822960"/>
            <a:ext cx="2194560" cy="219456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Advantages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3749040" y="1664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749040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Automation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00584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74904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00584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749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374904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1188720"/>
            <a:ext cx="0" cy="4892040"/>
          </a:xfrm>
          <a:prstGeom prst="line">
            <a:avLst/>
          </a:prstGeom>
          <a:noFill/>
          <a:ln w="15875">
            <a:solidFill>
              <a:srgbClr val="D7E9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263640" y="16916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6720840" y="1664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Friendly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06840" y="16916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9006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9464040" y="1664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Platform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6720840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Data Analysis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0684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90068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9464040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Machine Learning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63640" y="30632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672084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Visualization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06840" y="30632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90068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946404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63640" y="37490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672084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006840" y="37490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Text 51"/>
          <p:cNvSpPr/>
          <p:nvPr/>
        </p:nvSpPr>
        <p:spPr>
          <a:xfrm>
            <a:off x="90068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946404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Technologies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11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9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9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1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9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11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9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1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11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9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1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9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11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11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2" fill="hold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9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afterEffect">
                            <p:stCondLst>
                              <p:cond delay="48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11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afterEffect">
                            <p:stCondLst>
                              <p:cond delay="506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11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22" presetClass="entr" presetSubtype="2" fill="hold" nodeType="afterEffect">
                            <p:stCondLst>
                              <p:cond delay="52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8" dur="9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5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11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afterEffect">
                            <p:stCondLst>
                              <p:cond delay="57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11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22" presetClass="entr" presetSubtype="2" fill="hold" nodeType="afterEffect">
                            <p:stCondLst>
                              <p:cond delay="594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9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afterEffect">
                            <p:stCondLst>
                              <p:cond delay="616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11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22" presetClass="entr" presetSubtype="2" fill="hold" nodeType="afterEffect">
                            <p:stCondLst>
                              <p:cond delay="63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3" dur="9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afterEffect">
                            <p:stCondLst>
                              <p:cond delay="66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11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afterEffect">
                            <p:stCondLst>
                              <p:cond delay="682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11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22" presetClass="entr" presetSubtype="2" fill="hold" nodeType="afterEffect">
                            <p:stCondLst>
                              <p:cond delay="704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2" dur="9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afterEffect">
                            <p:stCondLst>
                              <p:cond delay="726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11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afterEffect">
                            <p:stCondLst>
                              <p:cond delay="748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11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22" presetClass="entr" presetSubtype="2" fill="hold" nodeType="afterEffect">
                            <p:stCondLst>
                              <p:cond delay="77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9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afterEffect">
                            <p:stCondLst>
                              <p:cond delay="792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11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afterEffect">
                            <p:stCondLst>
                              <p:cond delay="814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11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22" presetClass="entr" presetSubtype="2" fill="hold" nodeType="afterEffect">
                            <p:stCondLst>
                              <p:cond delay="836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0" dur="9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afterEffect">
                            <p:stCondLst>
                              <p:cond delay="858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11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afterEffect">
                            <p:stCondLst>
                              <p:cond delay="880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11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22" presetClass="entr" presetSubtype="2" fill="hold" nodeType="afterEffect">
                            <p:stCondLst>
                              <p:cond delay="902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9" dur="9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10" presetClass="entr" presetSubtype="0" fill="hold" nodeType="afterEffect">
                            <p:stCondLst>
                              <p:cond delay="924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11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10" presetClass="entr" presetSubtype="0" fill="hold" nodeType="afterEffect">
                            <p:stCondLst>
                              <p:cond delay="946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11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22" presetClass="entr" presetSubtype="2" fill="hold" nodeType="afterEffect">
                            <p:stCondLst>
                              <p:cond delay="968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8" dur="9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10" presetClass="entr" presetSubtype="0" fill="hold" nodeType="afterEffect">
                            <p:stCondLst>
                              <p:cond delay="990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11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afterEffect">
                            <p:stCondLst>
                              <p:cond delay="1012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11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22" presetClass="entr" presetSubtype="2" fill="hold" nodeType="afterEffect">
                            <p:stCondLst>
                              <p:cond delay="1034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7" dur="9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afterEffect">
                            <p:stCondLst>
                              <p:cond delay="1056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0" dur="11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10" presetClass="entr" presetSubtype="0" fill="hold" nodeType="afterEffect">
                            <p:stCondLst>
                              <p:cond delay="1078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3" dur="11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22" presetClass="entr" presetSubtype="2" fill="hold" nodeType="afterEffect">
                            <p:stCondLst>
                              <p:cond delay="110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6" dur="9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10" presetClass="entr" presetSubtype="0" fill="hold" nodeType="afterEffect">
                            <p:stCondLst>
                              <p:cond delay="1122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11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10" presetClass="entr" presetSubtype="0" fill="hold" nodeType="afterEffect">
                            <p:stCondLst>
                              <p:cond delay="1144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11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10" presetClass="entr" presetSubtype="0" fill="hold" nodeType="afterEffect">
                            <p:stCondLst>
                              <p:cond delay="1166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5" dur="11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afterEffect">
                            <p:stCondLst>
                              <p:cond delay="1188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11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822960"/>
            <a:ext cx="2194560" cy="219456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Limitations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Achieved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 uploaded successfully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80944" y="16916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Automated analysis completed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38928" y="16916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Models trained successfully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96912" y="16916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Forecast generated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54896" y="16916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Reports created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blurRad="76200" dist="25400" dir="5400000" algn="bl" rotWithShape="0">
              <a:srgbClr val="1E4A4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880360"/>
            <a:ext cx="411480" cy="411480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1417320" y="2907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 algorithms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 Assistant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Small–medium datasets only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60604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E4A4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8803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132320" y="2907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290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Support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Processing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11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1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9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9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24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1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11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286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11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9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nodeType="after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9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3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1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3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1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afterEffect">
                            <p:stCondLst>
                              <p:cond delay="396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11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41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11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11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8686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No-Code Data Science Platform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EDA and Machine Learning workflow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Forecasting and AI Assistant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modern web technologies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E3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efficient platform for beginners and researchers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2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11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11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41148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4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681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Singh</a:t>
            </a:r>
            <a:r>
              <a:rPr lang="en-US" sz="13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Reg. No.: 12304738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047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Ujjawal Raj</a:t>
            </a:r>
            <a:r>
              <a:rPr lang="en-US" sz="13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Reg. No.: 12314084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InsightForge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9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2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11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2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9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11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11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11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11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11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11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570</Words>
  <Application>Microsoft Office PowerPoint</Application>
  <PresentationFormat>Widescreen</PresentationFormat>
  <Paragraphs>224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Kumar Singh</cp:lastModifiedBy>
  <cp:revision>7</cp:revision>
  <dcterms:created xsi:type="dcterms:W3CDTF">2026-07-28T09:28:46Z</dcterms:created>
  <dcterms:modified xsi:type="dcterms:W3CDTF">2026-07-30T18:52:43Z</dcterms:modified>
</cp:coreProperties>
</file>